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</p:sldIdLst>
  <p:sldSz cx="18288000" cy="10287000"/>
  <p:notesSz cx="6858000" cy="9144000"/>
  <p:embeddedFontLst>
    <p:embeddedFont>
      <p:font typeface="League Spartan" charset="1" panose="00000800000000000000"/>
      <p:regular r:id="rId122"/>
    </p:embeddedFont>
    <p:embeddedFont>
      <p:font typeface="Roboto Bold" charset="1" panose="02000000000000000000"/>
      <p:regular r:id="rId123"/>
    </p:embeddedFont>
    <p:embeddedFont>
      <p:font typeface="Poppins Bold" charset="1" panose="00000800000000000000"/>
      <p:regular r:id="rId124"/>
    </p:embeddedFont>
    <p:embeddedFont>
      <p:font typeface="Glacial Indifference" charset="1" panose="00000000000000000000"/>
      <p:regular r:id="rId125"/>
    </p:embeddedFont>
    <p:embeddedFont>
      <p:font typeface="Roboto" charset="1" panose="02000000000000000000"/>
      <p:regular r:id="rId126"/>
    </p:embeddedFont>
    <p:embeddedFont>
      <p:font typeface="Poppins" charset="1" panose="00000500000000000000"/>
      <p:regular r:id="rId1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fonts/font122.fntdata" Type="http://schemas.openxmlformats.org/officeDocument/2006/relationships/font"/><Relationship Id="rId123" Target="fonts/font123.fntdata" Type="http://schemas.openxmlformats.org/officeDocument/2006/relationships/font"/><Relationship Id="rId124" Target="fonts/font124.fntdata" Type="http://schemas.openxmlformats.org/officeDocument/2006/relationships/font"/><Relationship Id="rId125" Target="fonts/font125.fntdata" Type="http://schemas.openxmlformats.org/officeDocument/2006/relationships/font"/><Relationship Id="rId126" Target="fonts/font126.fntdata" Type="http://schemas.openxmlformats.org/officeDocument/2006/relationships/font"/><Relationship Id="rId127" Target="fonts/font127.fntdata" Type="http://schemas.openxmlformats.org/officeDocument/2006/relationships/font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0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5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0957" y="4525170"/>
            <a:ext cx="9846085" cy="126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2"/>
              </a:lnSpc>
            </a:pPr>
            <a:r>
              <a:rPr lang="en-US" b="true" sz="7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COMPUTING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23004" y="3528848"/>
            <a:ext cx="5641992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DAY - 01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0587" y="5978040"/>
            <a:ext cx="8526827" cy="49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b="true" sz="27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1:  IT &amp; Virtualization Foundations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10719" y="7083981"/>
            <a:ext cx="446656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Instructor: </a:t>
            </a: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Mohammad Afzal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Course Duration: 30 Hours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509504" y="2224789"/>
            <a:ext cx="4857773" cy="6528106"/>
            <a:chOff x="0" y="0"/>
            <a:chExt cx="3663950" cy="4923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5247" t="0" r="-524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862577" y="2215264"/>
            <a:ext cx="4857773" cy="6528106"/>
            <a:chOff x="0" y="0"/>
            <a:chExt cx="3663950" cy="49237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l="-39970" t="0" r="-3997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9411" y="1252559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AFZAL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411" y="568067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MOHAMMED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411" y="2063194"/>
            <a:ext cx="5634574" cy="26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  <a:spcBef>
                <a:spcPct val="0"/>
              </a:spcBef>
            </a:pPr>
            <a:r>
              <a:rPr lang="en-US" sz="15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&amp; DevOps Engineer | Multi-Cloud Specialist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7631" y="2491043"/>
            <a:ext cx="6394334" cy="7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Background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and DevOps engineer with experience in designing and managing cloud infrastructure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Experience working with multi-cloud platforms including Microsoft Azure, AWS, and Google Cloud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Skilled in automation, infrastructure deployment, and cloud security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6"/>
              </a:lnSpc>
            </a:pPr>
            <a:r>
              <a:rPr lang="en-US" sz="18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Expertise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Platforms: Microsoft Azure, AWS, Google Cloud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DevOps Tools: Docker, Kubernetes, Terraform, Git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Scripting &amp; Automation: PowerShell, Shell scripting, Python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Infrastructure: Virtualization, Networking, Cloud Architecture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6"/>
              </a:lnSpc>
            </a:pPr>
            <a:r>
              <a:rPr lang="en-US" sz="18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Certifications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AWS Solutions Architect – Associate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Microsoft Azure Fundamentals (AZ-900)</a:t>
            </a:r>
          </a:p>
          <a:p>
            <a:pPr algn="l" marL="394229" indent="-197115" lvl="1">
              <a:lnSpc>
                <a:spcPts val="2556"/>
              </a:lnSpc>
              <a:buFont typeface="Arial"/>
              <a:buChar char="•"/>
            </a:pPr>
            <a:r>
              <a:rPr lang="en-US" sz="18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Microsoft AI Fundamentals (AI-900)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WILL LEARN TODAY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9197157" cy="523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vs Software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CPU, RAM and Storage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ating Systems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 vs Client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Networking Basics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irtualization Concepts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ypervisors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Microsoft Hyper-V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Linux Basics for Cloud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IT FOUNDATIONS MATTER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3621398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 business professionals need basic IT knowledge because: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companies run on digital systems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computing powers modern businesses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hnology decisions affect cost and scalability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Managers must understand IT capabilities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WILL LEARN TODAY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9197157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traditional IT infrastructure works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servers and data centers are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virtualization means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companies moved to cloud computing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 business examples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64766" y="3352237"/>
            <a:ext cx="3582527" cy="3582527"/>
          </a:xfrm>
          <a:custGeom>
            <a:avLst/>
            <a:gdLst/>
            <a:ahLst/>
            <a:cxnLst/>
            <a:rect r="r" b="b" t="t" l="l"/>
            <a:pathLst>
              <a:path h="3582527" w="3582527">
                <a:moveTo>
                  <a:pt x="0" y="0"/>
                </a:moveTo>
                <a:lnTo>
                  <a:pt x="3582527" y="0"/>
                </a:lnTo>
                <a:lnTo>
                  <a:pt x="3582527" y="3582526"/>
                </a:lnTo>
                <a:lnTo>
                  <a:pt x="0" y="3582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34764" y="3352237"/>
            <a:ext cx="4692705" cy="3122782"/>
          </a:xfrm>
          <a:custGeom>
            <a:avLst/>
            <a:gdLst/>
            <a:ahLst/>
            <a:cxnLst/>
            <a:rect r="r" b="b" t="t" l="l"/>
            <a:pathLst>
              <a:path h="3122782" w="4692705">
                <a:moveTo>
                  <a:pt x="0" y="0"/>
                </a:moveTo>
                <a:lnTo>
                  <a:pt x="4692705" y="0"/>
                </a:lnTo>
                <a:lnTo>
                  <a:pt x="4692705" y="3122781"/>
                </a:lnTo>
                <a:lnTo>
                  <a:pt x="0" y="3122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42307" y="7324248"/>
            <a:ext cx="3404986" cy="2586734"/>
          </a:xfrm>
          <a:custGeom>
            <a:avLst/>
            <a:gdLst/>
            <a:ahLst/>
            <a:cxnLst/>
            <a:rect r="r" b="b" t="t" l="l"/>
            <a:pathLst>
              <a:path h="2586734" w="3404986">
                <a:moveTo>
                  <a:pt x="0" y="0"/>
                </a:moveTo>
                <a:lnTo>
                  <a:pt x="3404986" y="0"/>
                </a:lnTo>
                <a:lnTo>
                  <a:pt x="3404986" y="2586734"/>
                </a:lnTo>
                <a:lnTo>
                  <a:pt x="0" y="2586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47630" y="6934763"/>
            <a:ext cx="5217805" cy="2931743"/>
          </a:xfrm>
          <a:custGeom>
            <a:avLst/>
            <a:gdLst/>
            <a:ahLst/>
            <a:cxnLst/>
            <a:rect r="r" b="b" t="t" l="l"/>
            <a:pathLst>
              <a:path h="2931743" w="5217805">
                <a:moveTo>
                  <a:pt x="0" y="0"/>
                </a:moveTo>
                <a:lnTo>
                  <a:pt x="5217805" y="0"/>
                </a:lnTo>
                <a:lnTo>
                  <a:pt x="5217805" y="2931744"/>
                </a:lnTo>
                <a:lnTo>
                  <a:pt x="0" y="29317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VS SOFTWARE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3220" y="2264157"/>
            <a:ext cx="11713313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are the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hysical components of a computer.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 disk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 cards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VS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3453654" cy="523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Softwares are Programs that run on hardware.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ating systems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Databases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mple idea: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Hardware = Body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Software = Brain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HARDWARE COMPONENTS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1105242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Three major components: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 (Processor)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Performs calculations and executes instructions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RAM (Memory)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Temporary memory used by running programs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Storag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Long-term storage for data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CPU (CENTRAL PROCESSING UNIT)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1985897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CPU is the brain of the computer.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Functions: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Executes instructions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Processes data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Runs applications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 of CPU manufacturers: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Intel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AMD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cloud environments, CPU is often measured in vCPUs (virtual CPUs).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RAM (MEMORY)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3726238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RAM stores data currently used by applications.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Characteristics: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ast access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Temporary storage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lost when power is off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you open many browser tabs → RAM usage increases.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STORAGE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2635904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Storage keeps data permanently.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HDD (Hard Disk Drive)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SSD (Solid State Drive)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 of stored data: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atabases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Operating systems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providers offer block storage and object storage.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573286" y="4659700"/>
            <a:ext cx="8913817" cy="5014022"/>
          </a:xfrm>
          <a:custGeom>
            <a:avLst/>
            <a:gdLst/>
            <a:ahLst/>
            <a:cxnLst/>
            <a:rect r="r" b="b" t="t" l="l"/>
            <a:pathLst>
              <a:path h="5014022" w="8913817">
                <a:moveTo>
                  <a:pt x="0" y="0"/>
                </a:moveTo>
                <a:lnTo>
                  <a:pt x="8913817" y="0"/>
                </a:lnTo>
                <a:lnTo>
                  <a:pt x="8913817" y="5014022"/>
                </a:lnTo>
                <a:lnTo>
                  <a:pt x="0" y="5014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AN OPERATING SYSTEM?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3220" y="2264157"/>
            <a:ext cx="13369783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Operating System (OS) manages computer hardware and software resources.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acts as an interface between: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→ Applications → Hardware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Windows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Linux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macOS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3964280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FUNCTIONS OF AN OPERATING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9197157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anaging hardware resources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Runn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applications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Managing files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anaging memory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Providing security and access control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WINDOWS VS LINUX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0916530" cy="523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Windows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User-friendly interface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Popular in enterprise desktops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Microsoft ecosystem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Linux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Open-source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hly customizable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Widely used in cloud environments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c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loud servers run Linux.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 CLIENT?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299235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client is a device that requests services.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aptop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 phone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 browser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When you open a website, your laptop acts as a client.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2908487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server is a computer that provides services to clients.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 server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atabase server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Email server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Servers are designed for: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 performance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 operation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andling many users simultaneously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 SERVER?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CLIENT–SERVER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9197157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 → requests website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 → sends webpage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 services: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Gmail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Online banking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E-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commerce websites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12570" y="2902309"/>
            <a:ext cx="7058130" cy="4499558"/>
          </a:xfrm>
          <a:custGeom>
            <a:avLst/>
            <a:gdLst/>
            <a:ahLst/>
            <a:cxnLst/>
            <a:rect r="r" b="b" t="t" l="l"/>
            <a:pathLst>
              <a:path h="4499558" w="7058130">
                <a:moveTo>
                  <a:pt x="0" y="0"/>
                </a:moveTo>
                <a:lnTo>
                  <a:pt x="7058130" y="0"/>
                </a:lnTo>
                <a:lnTo>
                  <a:pt x="7058130" y="4499558"/>
                </a:lnTo>
                <a:lnTo>
                  <a:pt x="0" y="4499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9197157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 → requests website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 → sends webpage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 services: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Gmail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Online banking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E-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commerce websites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12570" y="2902309"/>
            <a:ext cx="7058130" cy="4499558"/>
          </a:xfrm>
          <a:custGeom>
            <a:avLst/>
            <a:gdLst/>
            <a:ahLst/>
            <a:cxnLst/>
            <a:rect r="r" b="b" t="t" l="l"/>
            <a:pathLst>
              <a:path h="4499558" w="7058130">
                <a:moveTo>
                  <a:pt x="0" y="0"/>
                </a:moveTo>
                <a:lnTo>
                  <a:pt x="7058130" y="0"/>
                </a:lnTo>
                <a:lnTo>
                  <a:pt x="7058130" y="4499558"/>
                </a:lnTo>
                <a:lnTo>
                  <a:pt x="0" y="4499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5097" y="2027799"/>
            <a:ext cx="10374575" cy="6445204"/>
          </a:xfrm>
          <a:custGeom>
            <a:avLst/>
            <a:gdLst/>
            <a:ahLst/>
            <a:cxnLst/>
            <a:rect r="r" b="b" t="t" l="l"/>
            <a:pathLst>
              <a:path h="6445204" w="10374575">
                <a:moveTo>
                  <a:pt x="0" y="0"/>
                </a:moveTo>
                <a:lnTo>
                  <a:pt x="10374575" y="0"/>
                </a:lnTo>
                <a:lnTo>
                  <a:pt x="10374575" y="6445204"/>
                </a:lnTo>
                <a:lnTo>
                  <a:pt x="0" y="6445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CLIENT–SERVER MODEL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9197157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Networking connects computers together.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allows systems to:</a:t>
            </a:r>
          </a:p>
          <a:p>
            <a:pPr algn="just" marL="1942828" indent="-485707" lvl="3">
              <a:lnSpc>
                <a:spcPts val="4199"/>
              </a:lnSpc>
              <a:buFont typeface="Arial"/>
              <a:buChar char="￭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Share data</a:t>
            </a:r>
          </a:p>
          <a:p>
            <a:pPr algn="just" marL="1942828" indent="-485707" lvl="3">
              <a:lnSpc>
                <a:spcPts val="4199"/>
              </a:lnSpc>
              <a:buFont typeface="Arial"/>
              <a:buChar char="￭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mmunicate</a:t>
            </a:r>
          </a:p>
          <a:p>
            <a:pPr algn="just" marL="1942828" indent="-485707" lvl="3">
              <a:lnSpc>
                <a:spcPts val="4199"/>
              </a:lnSpc>
              <a:buFont typeface="Arial"/>
              <a:buChar char="￭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 internet services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ey components: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IP Address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DNS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 / HTTPS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NETWORKING BASICS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386950" y="4963440"/>
            <a:ext cx="8923123" cy="5019257"/>
          </a:xfrm>
          <a:custGeom>
            <a:avLst/>
            <a:gdLst/>
            <a:ahLst/>
            <a:cxnLst/>
            <a:rect r="r" b="b" t="t" l="l"/>
            <a:pathLst>
              <a:path h="5019257" w="8923123">
                <a:moveTo>
                  <a:pt x="0" y="0"/>
                </a:moveTo>
                <a:lnTo>
                  <a:pt x="8923123" y="0"/>
                </a:lnTo>
                <a:lnTo>
                  <a:pt x="8923123" y="5019257"/>
                </a:lnTo>
                <a:lnTo>
                  <a:pt x="0" y="5019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9197157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Networking connects computers together.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allows systems to:</a:t>
            </a:r>
          </a:p>
          <a:p>
            <a:pPr algn="just" marL="1942828" indent="-485707" lvl="3">
              <a:lnSpc>
                <a:spcPts val="4199"/>
              </a:lnSpc>
              <a:buFont typeface="Arial"/>
              <a:buChar char="￭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Share data</a:t>
            </a:r>
          </a:p>
          <a:p>
            <a:pPr algn="just" marL="1942828" indent="-485707" lvl="3">
              <a:lnSpc>
                <a:spcPts val="4199"/>
              </a:lnSpc>
              <a:buFont typeface="Arial"/>
              <a:buChar char="￭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mmunicate</a:t>
            </a:r>
          </a:p>
          <a:p>
            <a:pPr algn="just" marL="1942828" indent="-485707" lvl="3">
              <a:lnSpc>
                <a:spcPts val="4199"/>
              </a:lnSpc>
              <a:buFont typeface="Arial"/>
              <a:buChar char="￭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 internet services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ey components: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IP Address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DNS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 / HTTPS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386950" y="4963440"/>
            <a:ext cx="8923123" cy="5019257"/>
          </a:xfrm>
          <a:custGeom>
            <a:avLst/>
            <a:gdLst/>
            <a:ahLst/>
            <a:cxnLst/>
            <a:rect r="r" b="b" t="t" l="l"/>
            <a:pathLst>
              <a:path h="5019257" w="8923123">
                <a:moveTo>
                  <a:pt x="0" y="0"/>
                </a:moveTo>
                <a:lnTo>
                  <a:pt x="8923123" y="0"/>
                </a:lnTo>
                <a:lnTo>
                  <a:pt x="8923123" y="5019257"/>
                </a:lnTo>
                <a:lnTo>
                  <a:pt x="0" y="5019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79968" y="2866031"/>
            <a:ext cx="11005649" cy="6236534"/>
          </a:xfrm>
          <a:custGeom>
            <a:avLst/>
            <a:gdLst/>
            <a:ahLst/>
            <a:cxnLst/>
            <a:rect r="r" b="b" t="t" l="l"/>
            <a:pathLst>
              <a:path h="6236534" w="11005649">
                <a:moveTo>
                  <a:pt x="0" y="0"/>
                </a:moveTo>
                <a:lnTo>
                  <a:pt x="11005649" y="0"/>
                </a:lnTo>
                <a:lnTo>
                  <a:pt x="11005649" y="6236534"/>
                </a:lnTo>
                <a:lnTo>
                  <a:pt x="0" y="623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NETWORKING BASICS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9197157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 device on a network has an IP address.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192.168.1.1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Identifies devices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llows communication between systems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Similar to a home address for computers.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IP ADDRESS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9197157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 device on a network has an IP address.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192.168.1.1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Identifies devices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llows communication between systems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Similar to a home address for computers.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6771" y="3000306"/>
            <a:ext cx="12795006" cy="6257994"/>
          </a:xfrm>
          <a:custGeom>
            <a:avLst/>
            <a:gdLst/>
            <a:ahLst/>
            <a:cxnLst/>
            <a:rect r="r" b="b" t="t" l="l"/>
            <a:pathLst>
              <a:path h="6257994" w="12795006">
                <a:moveTo>
                  <a:pt x="0" y="0"/>
                </a:moveTo>
                <a:lnTo>
                  <a:pt x="12795006" y="0"/>
                </a:lnTo>
                <a:lnTo>
                  <a:pt x="12795006" y="6257994"/>
                </a:lnTo>
                <a:lnTo>
                  <a:pt x="0" y="6257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IP ADDRESS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7412" y="1930145"/>
            <a:ext cx="12447192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DNS translates domain names into IP addresses.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google.com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142.250.183.78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allows users to remember names instead of numbers.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374656" y="5764700"/>
            <a:ext cx="8625435" cy="4165845"/>
          </a:xfrm>
          <a:custGeom>
            <a:avLst/>
            <a:gdLst/>
            <a:ahLst/>
            <a:cxnLst/>
            <a:rect r="r" b="b" t="t" l="l"/>
            <a:pathLst>
              <a:path h="4165845" w="8625435">
                <a:moveTo>
                  <a:pt x="0" y="0"/>
                </a:moveTo>
                <a:lnTo>
                  <a:pt x="8625435" y="0"/>
                </a:lnTo>
                <a:lnTo>
                  <a:pt x="8625435" y="4165845"/>
                </a:lnTo>
                <a:lnTo>
                  <a:pt x="0" y="416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DNS (DOMAIN NAME SYSTEM)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7412" y="1930145"/>
            <a:ext cx="12447192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DNS translates domain names into IP addresses.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ample: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google.com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just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142.250.183.78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allows users to remember names instead of numbers.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374656" y="5764700"/>
            <a:ext cx="8625435" cy="4165845"/>
          </a:xfrm>
          <a:custGeom>
            <a:avLst/>
            <a:gdLst/>
            <a:ahLst/>
            <a:cxnLst/>
            <a:rect r="r" b="b" t="t" l="l"/>
            <a:pathLst>
              <a:path h="4165845" w="8625435">
                <a:moveTo>
                  <a:pt x="0" y="0"/>
                </a:moveTo>
                <a:lnTo>
                  <a:pt x="8625435" y="0"/>
                </a:lnTo>
                <a:lnTo>
                  <a:pt x="8625435" y="4165845"/>
                </a:lnTo>
                <a:lnTo>
                  <a:pt x="0" y="416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53755" y="2827216"/>
            <a:ext cx="12604550" cy="5645788"/>
          </a:xfrm>
          <a:custGeom>
            <a:avLst/>
            <a:gdLst/>
            <a:ahLst/>
            <a:cxnLst/>
            <a:rect r="r" b="b" t="t" l="l"/>
            <a:pathLst>
              <a:path h="5645788" w="12604550">
                <a:moveTo>
                  <a:pt x="0" y="0"/>
                </a:moveTo>
                <a:lnTo>
                  <a:pt x="12604550" y="0"/>
                </a:lnTo>
                <a:lnTo>
                  <a:pt x="12604550" y="5645787"/>
                </a:lnTo>
                <a:lnTo>
                  <a:pt x="0" y="5645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DNS (DOMAIN NAME SYSTEM)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799482" y="4275193"/>
            <a:ext cx="6072923" cy="5720529"/>
          </a:xfrm>
          <a:custGeom>
            <a:avLst/>
            <a:gdLst/>
            <a:ahLst/>
            <a:cxnLst/>
            <a:rect r="r" b="b" t="t" l="l"/>
            <a:pathLst>
              <a:path h="5720529" w="6072923">
                <a:moveTo>
                  <a:pt x="0" y="0"/>
                </a:moveTo>
                <a:lnTo>
                  <a:pt x="6072922" y="0"/>
                </a:lnTo>
                <a:lnTo>
                  <a:pt x="6072922" y="5720528"/>
                </a:lnTo>
                <a:lnTo>
                  <a:pt x="0" y="5720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2447192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Protocols used to transfer data on the web.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HTTP: Standard web communication.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 Secure communication using encryption. Most modern websites use HTTPS.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HTTP AND HTTPS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2447192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Virtualization allows multiple virtual machines to run on a single physical server.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Instead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server = 1 application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can run: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server = multiple virtual machnes.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378104" y="5638920"/>
            <a:ext cx="8001037" cy="4480581"/>
          </a:xfrm>
          <a:custGeom>
            <a:avLst/>
            <a:gdLst/>
            <a:ahLst/>
            <a:cxnLst/>
            <a:rect r="r" b="b" t="t" l="l"/>
            <a:pathLst>
              <a:path h="4480581" w="8001037">
                <a:moveTo>
                  <a:pt x="0" y="0"/>
                </a:moveTo>
                <a:lnTo>
                  <a:pt x="8001037" y="0"/>
                </a:lnTo>
                <a:lnTo>
                  <a:pt x="8001037" y="4480581"/>
                </a:lnTo>
                <a:lnTo>
                  <a:pt x="0" y="4480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VIRTUALIZATION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770033" y="5571969"/>
            <a:ext cx="9093963" cy="4546982"/>
          </a:xfrm>
          <a:custGeom>
            <a:avLst/>
            <a:gdLst/>
            <a:ahLst/>
            <a:cxnLst/>
            <a:rect r="r" b="b" t="t" l="l"/>
            <a:pathLst>
              <a:path h="4546982" w="9093963">
                <a:moveTo>
                  <a:pt x="0" y="0"/>
                </a:moveTo>
                <a:lnTo>
                  <a:pt x="9093963" y="0"/>
                </a:lnTo>
                <a:lnTo>
                  <a:pt x="9093963" y="4546981"/>
                </a:lnTo>
                <a:lnTo>
                  <a:pt x="0" y="4546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2447192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Virtual Machine (VM) is a software-based computer.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VM has:</a:t>
            </a:r>
          </a:p>
          <a:p>
            <a:pPr algn="l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</a:t>
            </a:r>
          </a:p>
          <a:p>
            <a:pPr algn="l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RAM</a:t>
            </a:r>
          </a:p>
          <a:p>
            <a:pPr algn="l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</a:p>
          <a:p>
            <a:pPr algn="l" marL="1295219" indent="-431740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system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behaves like an independent machine.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 VIRTUAL MACHINE?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2447192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Before virtualization: Servers were underutilized.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 servers purchased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Only 30–40% used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Virtualization improves resource utilization.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299768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WHY VIRTUALIZATION BECAME POPULAR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3914950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hypervisor is software that creates and manages virtual machines.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controls: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allocation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Memory allocation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Networking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VMware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Microsoft Hyper-V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KVM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 HYPERVISOR?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164206" y="3926022"/>
            <a:ext cx="9093963" cy="4546982"/>
          </a:xfrm>
          <a:custGeom>
            <a:avLst/>
            <a:gdLst/>
            <a:ahLst/>
            <a:cxnLst/>
            <a:rect r="r" b="b" t="t" l="l"/>
            <a:pathLst>
              <a:path h="4546982" w="9093963">
                <a:moveTo>
                  <a:pt x="0" y="0"/>
                </a:moveTo>
                <a:lnTo>
                  <a:pt x="9093963" y="0"/>
                </a:lnTo>
                <a:lnTo>
                  <a:pt x="9093963" y="4546981"/>
                </a:lnTo>
                <a:lnTo>
                  <a:pt x="0" y="4546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2845583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main types: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 1 – Bare Metal -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Runs directly on hardware. - Used in data centers.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VMwar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ESXi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Microsoft Hyper-V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17335" y="3680817"/>
            <a:ext cx="4346853" cy="5860882"/>
          </a:xfrm>
          <a:custGeom>
            <a:avLst/>
            <a:gdLst/>
            <a:ahLst/>
            <a:cxnLst/>
            <a:rect r="r" b="b" t="t" l="l"/>
            <a:pathLst>
              <a:path h="5860882" w="4346853">
                <a:moveTo>
                  <a:pt x="0" y="0"/>
                </a:moveTo>
                <a:lnTo>
                  <a:pt x="4346853" y="0"/>
                </a:lnTo>
                <a:lnTo>
                  <a:pt x="4346853" y="5860882"/>
                </a:lnTo>
                <a:lnTo>
                  <a:pt x="0" y="5860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6474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HYPERVISOR TYPES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2845583" cy="6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main types: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 2 –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Runs on top of an operating system.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VirtualBox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VMwar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Workstation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Testing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Development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Learning environments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17335" y="3680817"/>
            <a:ext cx="8540447" cy="5860882"/>
          </a:xfrm>
          <a:custGeom>
            <a:avLst/>
            <a:gdLst/>
            <a:ahLst/>
            <a:cxnLst/>
            <a:rect r="r" b="b" t="t" l="l"/>
            <a:pathLst>
              <a:path h="5860882" w="8540447">
                <a:moveTo>
                  <a:pt x="0" y="0"/>
                </a:moveTo>
                <a:lnTo>
                  <a:pt x="8540447" y="0"/>
                </a:lnTo>
                <a:lnTo>
                  <a:pt x="8540447" y="5860882"/>
                </a:lnTo>
                <a:lnTo>
                  <a:pt x="0" y="5860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HYPERVISOR TYPES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2447192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gain: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hardware utilization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Reduced infrastructure costs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deployment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 disaster recovery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scalability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5033647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BENEFITS OF VIRTUALIZATION IN ENTERPRISES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Linux is the most widely used operating system in cloud environments.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amples: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Ubuntu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entOS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Hat Enterprise Linux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Reasons for popularity: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Stability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Open-source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Automation support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288462" y="3238647"/>
            <a:ext cx="3204117" cy="1904853"/>
          </a:xfrm>
          <a:custGeom>
            <a:avLst/>
            <a:gdLst/>
            <a:ahLst/>
            <a:cxnLst/>
            <a:rect r="r" b="b" t="t" l="l"/>
            <a:pathLst>
              <a:path h="1904853" w="3204117">
                <a:moveTo>
                  <a:pt x="0" y="0"/>
                </a:moveTo>
                <a:lnTo>
                  <a:pt x="3204117" y="0"/>
                </a:lnTo>
                <a:lnTo>
                  <a:pt x="3204117" y="1904853"/>
                </a:lnTo>
                <a:lnTo>
                  <a:pt x="0" y="190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92579" y="3102166"/>
            <a:ext cx="4888375" cy="2781601"/>
          </a:xfrm>
          <a:custGeom>
            <a:avLst/>
            <a:gdLst/>
            <a:ahLst/>
            <a:cxnLst/>
            <a:rect r="r" b="b" t="t" l="l"/>
            <a:pathLst>
              <a:path h="2781601" w="4888375">
                <a:moveTo>
                  <a:pt x="0" y="0"/>
                </a:moveTo>
                <a:lnTo>
                  <a:pt x="4888375" y="0"/>
                </a:lnTo>
                <a:lnTo>
                  <a:pt x="4888375" y="2781600"/>
                </a:lnTo>
                <a:lnTo>
                  <a:pt x="0" y="278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57954" y="6177318"/>
            <a:ext cx="5253872" cy="2143027"/>
          </a:xfrm>
          <a:custGeom>
            <a:avLst/>
            <a:gdLst/>
            <a:ahLst/>
            <a:cxnLst/>
            <a:rect r="r" b="b" t="t" l="l"/>
            <a:pathLst>
              <a:path h="2143027" w="5253872">
                <a:moveTo>
                  <a:pt x="0" y="0"/>
                </a:moveTo>
                <a:lnTo>
                  <a:pt x="5253872" y="0"/>
                </a:lnTo>
                <a:lnTo>
                  <a:pt x="5253872" y="2143026"/>
                </a:lnTo>
                <a:lnTo>
                  <a:pt x="0" y="2143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11826" y="7239239"/>
            <a:ext cx="3294277" cy="2467528"/>
          </a:xfrm>
          <a:custGeom>
            <a:avLst/>
            <a:gdLst/>
            <a:ahLst/>
            <a:cxnLst/>
            <a:rect r="r" b="b" t="t" l="l"/>
            <a:pathLst>
              <a:path h="2467528" w="3294277">
                <a:moveTo>
                  <a:pt x="0" y="0"/>
                </a:moveTo>
                <a:lnTo>
                  <a:pt x="3294277" y="0"/>
                </a:lnTo>
                <a:lnTo>
                  <a:pt x="3294277" y="2467528"/>
                </a:lnTo>
                <a:lnTo>
                  <a:pt x="0" y="2467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LINUX FUNDAMENTALS FOR CLOUD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cloud workloads run Linux because: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Ligh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eight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Effici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resource usage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networking capabilities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 a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utomation using scripts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WHY CLOUD PLATFORMS PREFER LINUX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523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Today we covered: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vs software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CPU, RAM, storage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systems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 vs cli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architecture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etworking fundamentals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Virtualization and hypervisors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oft Hyper-V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Linux basics for cloud computing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46173" y="6762750"/>
            <a:ext cx="5004371" cy="761278"/>
            <a:chOff x="0" y="0"/>
            <a:chExt cx="1318024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8024" cy="200501"/>
            </a:xfrm>
            <a:custGeom>
              <a:avLst/>
              <a:gdLst/>
              <a:ahLst/>
              <a:cxnLst/>
              <a:rect r="r" b="b" t="t" l="l"/>
              <a:pathLst>
                <a:path h="200501" w="1318024">
                  <a:moveTo>
                    <a:pt x="78899" y="0"/>
                  </a:moveTo>
                  <a:lnTo>
                    <a:pt x="1239125" y="0"/>
                  </a:lnTo>
                  <a:cubicBezTo>
                    <a:pt x="1282700" y="0"/>
                    <a:pt x="1318024" y="35324"/>
                    <a:pt x="1318024" y="78899"/>
                  </a:cubicBezTo>
                  <a:lnTo>
                    <a:pt x="1318024" y="121603"/>
                  </a:lnTo>
                  <a:cubicBezTo>
                    <a:pt x="1318024" y="165177"/>
                    <a:pt x="1282700" y="200501"/>
                    <a:pt x="1239125" y="200501"/>
                  </a:cubicBezTo>
                  <a:lnTo>
                    <a:pt x="78899" y="200501"/>
                  </a:lnTo>
                  <a:cubicBezTo>
                    <a:pt x="35324" y="200501"/>
                    <a:pt x="0" y="165177"/>
                    <a:pt x="0" y="121603"/>
                  </a:cubicBezTo>
                  <a:lnTo>
                    <a:pt x="0" y="78899"/>
                  </a:lnTo>
                  <a:cubicBezTo>
                    <a:pt x="0" y="35324"/>
                    <a:pt x="35324" y="0"/>
                    <a:pt x="788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18024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742747" y="6884923"/>
            <a:ext cx="5164947" cy="53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 YOU TOMMOROW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409363" y="8688897"/>
            <a:ext cx="759903" cy="759903"/>
          </a:xfrm>
          <a:custGeom>
            <a:avLst/>
            <a:gdLst/>
            <a:ahLst/>
            <a:cxnLst/>
            <a:rect r="r" b="b" t="t" l="l"/>
            <a:pathLst>
              <a:path h="759903" w="759903">
                <a:moveTo>
                  <a:pt x="0" y="0"/>
                </a:moveTo>
                <a:lnTo>
                  <a:pt x="759903" y="0"/>
                </a:lnTo>
                <a:lnTo>
                  <a:pt x="759903" y="759903"/>
                </a:lnTo>
                <a:lnTo>
                  <a:pt x="0" y="75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5697" y="8659101"/>
            <a:ext cx="762324" cy="762324"/>
          </a:xfrm>
          <a:custGeom>
            <a:avLst/>
            <a:gdLst/>
            <a:ahLst/>
            <a:cxnLst/>
            <a:rect r="r" b="b" t="t" l="l"/>
            <a:pathLst>
              <a:path h="762324" w="762324">
                <a:moveTo>
                  <a:pt x="0" y="0"/>
                </a:moveTo>
                <a:lnTo>
                  <a:pt x="762323" y="0"/>
                </a:lnTo>
                <a:lnTo>
                  <a:pt x="762323" y="762323"/>
                </a:lnTo>
                <a:lnTo>
                  <a:pt x="0" y="7623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68070" y="8716674"/>
            <a:ext cx="561056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22475" y="8762274"/>
            <a:ext cx="350034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+91 9988007766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0957" y="4525170"/>
            <a:ext cx="9846085" cy="126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2"/>
              </a:lnSpc>
            </a:pPr>
            <a:r>
              <a:rPr lang="en-US" b="true" sz="7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COMPUTING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23004" y="3528848"/>
            <a:ext cx="5641992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DAY - 02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0587" y="5978040"/>
            <a:ext cx="8526827" cy="49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b="true" sz="27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2: Cloud Computing Fundamentals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10719" y="7083981"/>
            <a:ext cx="446656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Instructor: </a:t>
            </a: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Mohammad Afzal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Course Duration: 30 Hours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Today we covered: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is Cloud Computing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Evolution of IT Infrastructure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Service Models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Deployment Models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Regions and Availability Zones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Scalability and High Availability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CapEx vs OpEx</a:t>
            </a:r>
          </a:p>
          <a:p>
            <a:pPr algn="just" marL="647609" indent="-323805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Business Use Cases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computing is the delivery of computing services over the internet.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hese services include:</a:t>
            </a:r>
          </a:p>
          <a:p>
            <a:pPr algn="just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Databases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applications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rent resources instead of owning infrastructure.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CLOUD COMPUTING?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523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computing means: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Accessing computing resources on demand through the internet and paying only for what you use.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Drive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Microsoft 365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Netflix infrastructure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AWS and Azure 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CLOUD DEFINITION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Common services using cloud: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Gmail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Dropbox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Zoom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Spotify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Netflix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access services without knowing where the servers are located.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090655" y="2006345"/>
            <a:ext cx="2672760" cy="1997821"/>
          </a:xfrm>
          <a:custGeom>
            <a:avLst/>
            <a:gdLst/>
            <a:ahLst/>
            <a:cxnLst/>
            <a:rect r="r" b="b" t="t" l="l"/>
            <a:pathLst>
              <a:path h="1997821" w="2672760">
                <a:moveTo>
                  <a:pt x="0" y="0"/>
                </a:moveTo>
                <a:lnTo>
                  <a:pt x="2672761" y="0"/>
                </a:lnTo>
                <a:lnTo>
                  <a:pt x="2672761" y="1997820"/>
                </a:lnTo>
                <a:lnTo>
                  <a:pt x="0" y="1997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2006345"/>
            <a:ext cx="2009628" cy="2009628"/>
          </a:xfrm>
          <a:custGeom>
            <a:avLst/>
            <a:gdLst/>
            <a:ahLst/>
            <a:cxnLst/>
            <a:rect r="r" b="b" t="t" l="l"/>
            <a:pathLst>
              <a:path h="2009628" w="2009628">
                <a:moveTo>
                  <a:pt x="0" y="0"/>
                </a:moveTo>
                <a:lnTo>
                  <a:pt x="2009628" y="0"/>
                </a:lnTo>
                <a:lnTo>
                  <a:pt x="2009628" y="2009627"/>
                </a:lnTo>
                <a:lnTo>
                  <a:pt x="0" y="200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72836" y="7064768"/>
            <a:ext cx="2108399" cy="1987535"/>
          </a:xfrm>
          <a:custGeom>
            <a:avLst/>
            <a:gdLst/>
            <a:ahLst/>
            <a:cxnLst/>
            <a:rect r="r" b="b" t="t" l="l"/>
            <a:pathLst>
              <a:path h="1987535" w="2108399">
                <a:moveTo>
                  <a:pt x="0" y="0"/>
                </a:moveTo>
                <a:lnTo>
                  <a:pt x="2108399" y="0"/>
                </a:lnTo>
                <a:lnTo>
                  <a:pt x="2108399" y="1987535"/>
                </a:lnTo>
                <a:lnTo>
                  <a:pt x="0" y="1987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45790" y="6885552"/>
            <a:ext cx="3707838" cy="2651014"/>
          </a:xfrm>
          <a:custGeom>
            <a:avLst/>
            <a:gdLst/>
            <a:ahLst/>
            <a:cxnLst/>
            <a:rect r="r" b="b" t="t" l="l"/>
            <a:pathLst>
              <a:path h="2651014" w="3707838">
                <a:moveTo>
                  <a:pt x="0" y="0"/>
                </a:moveTo>
                <a:lnTo>
                  <a:pt x="3707838" y="0"/>
                </a:lnTo>
                <a:lnTo>
                  <a:pt x="3707838" y="2651015"/>
                </a:lnTo>
                <a:lnTo>
                  <a:pt x="0" y="26510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EVERYDAY CLOUD EXAMPLES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infrastructure evolved in three major stages:</a:t>
            </a:r>
          </a:p>
          <a:p>
            <a:pPr algn="just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On-Premises Infrastructure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Virtualization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Computing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stage improved efficiency and scalability.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IT INFRASTRUCTURE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6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Companies hosted systems in their own data centers.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Requirements: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Buy servers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Install networking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hardware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 upgrades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Hire IT staff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cost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scalability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Long setup time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STAGE 1: ON-PREMISES INFRASTRUCTURE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Virtualization improved efficiency by allowing: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virtual machines on one server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resource utilization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provisioning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However, companies still needed: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centers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maintenance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Infrastructure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STAGE 2: VIRTUALIZATION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providers manage infrastructure.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simply use the services they need.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Benefits: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hardware purchase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Instant scalability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 availability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Pay-as-you-go pricing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021283" y="4120510"/>
            <a:ext cx="7986904" cy="5906025"/>
          </a:xfrm>
          <a:custGeom>
            <a:avLst/>
            <a:gdLst/>
            <a:ahLst/>
            <a:cxnLst/>
            <a:rect r="r" b="b" t="t" l="l"/>
            <a:pathLst>
              <a:path h="5906025" w="7986904">
                <a:moveTo>
                  <a:pt x="0" y="0"/>
                </a:moveTo>
                <a:lnTo>
                  <a:pt x="7986904" y="0"/>
                </a:lnTo>
                <a:lnTo>
                  <a:pt x="7986904" y="5906025"/>
                </a:lnTo>
                <a:lnTo>
                  <a:pt x="0" y="5906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STAGE 3: CLOUD COMPUTING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708087" y="689274"/>
            <a:ext cx="4055328" cy="4055328"/>
          </a:xfrm>
          <a:custGeom>
            <a:avLst/>
            <a:gdLst/>
            <a:ahLst/>
            <a:cxnLst/>
            <a:rect r="r" b="b" t="t" l="l"/>
            <a:pathLst>
              <a:path h="4055328" w="4055328">
                <a:moveTo>
                  <a:pt x="0" y="0"/>
                </a:moveTo>
                <a:lnTo>
                  <a:pt x="4055329" y="0"/>
                </a:lnTo>
                <a:lnTo>
                  <a:pt x="4055329" y="4055328"/>
                </a:lnTo>
                <a:lnTo>
                  <a:pt x="0" y="40553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54291" y="6017018"/>
            <a:ext cx="3044823" cy="3044823"/>
          </a:xfrm>
          <a:custGeom>
            <a:avLst/>
            <a:gdLst/>
            <a:ahLst/>
            <a:cxnLst/>
            <a:rect r="r" b="b" t="t" l="l"/>
            <a:pathLst>
              <a:path h="3044823" w="3044823">
                <a:moveTo>
                  <a:pt x="0" y="0"/>
                </a:moveTo>
                <a:lnTo>
                  <a:pt x="3044824" y="0"/>
                </a:lnTo>
                <a:lnTo>
                  <a:pt x="3044824" y="3044823"/>
                </a:lnTo>
                <a:lnTo>
                  <a:pt x="0" y="30448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48361" y="6017018"/>
            <a:ext cx="3215055" cy="3215055"/>
          </a:xfrm>
          <a:custGeom>
            <a:avLst/>
            <a:gdLst/>
            <a:ahLst/>
            <a:cxnLst/>
            <a:rect r="r" b="b" t="t" l="l"/>
            <a:pathLst>
              <a:path h="3215055" w="3215055">
                <a:moveTo>
                  <a:pt x="0" y="0"/>
                </a:moveTo>
                <a:lnTo>
                  <a:pt x="3215055" y="0"/>
                </a:lnTo>
                <a:lnTo>
                  <a:pt x="3215055" y="3215054"/>
                </a:lnTo>
                <a:lnTo>
                  <a:pt x="0" y="3215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Leading global cloud providers include: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Amazon Web Services (AWS)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Microsoft Azure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Cloud Platform (GCP)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companies operate large global data centers.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MAJOR CLOUD PROVIDERS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services are delivered in three main models:</a:t>
            </a:r>
          </a:p>
          <a:p>
            <a:pPr algn="just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IaaS — Infrastructure as a Service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PaaS — Platform as a Service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SaaS — Software as a Service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model provides different levels of control and management.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SERVICE MODELS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28473" y="1874912"/>
            <a:ext cx="11579460" cy="6687138"/>
          </a:xfrm>
          <a:custGeom>
            <a:avLst/>
            <a:gdLst/>
            <a:ahLst/>
            <a:cxnLst/>
            <a:rect r="r" b="b" t="t" l="l"/>
            <a:pathLst>
              <a:path h="6687138" w="11579460">
                <a:moveTo>
                  <a:pt x="0" y="0"/>
                </a:moveTo>
                <a:lnTo>
                  <a:pt x="11579460" y="0"/>
                </a:lnTo>
                <a:lnTo>
                  <a:pt x="11579460" y="6687138"/>
                </a:lnTo>
                <a:lnTo>
                  <a:pt x="0" y="6687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7376" y="413443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RESPONSIBILITY MODEL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can deploy cloud in different ways:</a:t>
            </a:r>
          </a:p>
          <a:p>
            <a:pPr algn="just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Public Cloud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Private Cloud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Hybrid Cloud</a:t>
            </a:r>
          </a:p>
          <a:p>
            <a:pPr algn="l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model serves different business needs.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DEPLOYMENT MODELS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6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Infrastructure owned by cloud providers and Resources shared among multiple customers.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AWS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icrosoft Azure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Cloud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vantages: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cost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scalability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availability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PUBLIC CLOUD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Infrastructure dedicated to a single organization.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Characteristics: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control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Enhanced security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 configurat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by: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Government agencies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inanci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institutions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PRIVATE CLOUD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628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Hybrid cloud combines:</a:t>
            </a:r>
          </a:p>
          <a:p>
            <a:pPr algn="just">
              <a:lnSpc>
                <a:spcPts val="4199"/>
              </a:lnSpc>
            </a:pP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On-premises infrastructure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Public cloud serv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ices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Benefits: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lexibility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 control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calability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any enterprises use hybrid architectures.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HYBRID CLOUD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region contains multiple availability zones.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Availability zon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are: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hysically separate data center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onnected with high-speed networks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reliability and fault tolerance.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AVAILABILITY ZONES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Availability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Elasticity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Flexibilty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Capital Expenditure (CapEx)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Operational Expenditure (OpEx)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BENEFITS OF PUBLIC CLOUD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733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enables many business scenarios: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E-commerce platforms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analyt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 applications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isaster recovery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applications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 of companies using cloud: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Netflix — streaming infrastructure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Airbnb — global platform scalability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Uber — real-time data processing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enables rapid innovation.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BUSINESS USE CASES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Today we learned: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cloud computing is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Evolut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 of IT infrastructure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service models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oyment models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ions and availability zones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labi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lity and elasticity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CapEx vs OpEx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SUMMARY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46173" y="6762750"/>
            <a:ext cx="5004371" cy="761278"/>
            <a:chOff x="0" y="0"/>
            <a:chExt cx="1318024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8024" cy="200501"/>
            </a:xfrm>
            <a:custGeom>
              <a:avLst/>
              <a:gdLst/>
              <a:ahLst/>
              <a:cxnLst/>
              <a:rect r="r" b="b" t="t" l="l"/>
              <a:pathLst>
                <a:path h="200501" w="1318024">
                  <a:moveTo>
                    <a:pt x="78899" y="0"/>
                  </a:moveTo>
                  <a:lnTo>
                    <a:pt x="1239125" y="0"/>
                  </a:lnTo>
                  <a:cubicBezTo>
                    <a:pt x="1282700" y="0"/>
                    <a:pt x="1318024" y="35324"/>
                    <a:pt x="1318024" y="78899"/>
                  </a:cubicBezTo>
                  <a:lnTo>
                    <a:pt x="1318024" y="121603"/>
                  </a:lnTo>
                  <a:cubicBezTo>
                    <a:pt x="1318024" y="165177"/>
                    <a:pt x="1282700" y="200501"/>
                    <a:pt x="1239125" y="200501"/>
                  </a:cubicBezTo>
                  <a:lnTo>
                    <a:pt x="78899" y="200501"/>
                  </a:lnTo>
                  <a:cubicBezTo>
                    <a:pt x="35324" y="200501"/>
                    <a:pt x="0" y="165177"/>
                    <a:pt x="0" y="121603"/>
                  </a:cubicBezTo>
                  <a:lnTo>
                    <a:pt x="0" y="78899"/>
                  </a:lnTo>
                  <a:cubicBezTo>
                    <a:pt x="0" y="35324"/>
                    <a:pt x="35324" y="0"/>
                    <a:pt x="788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18024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742747" y="6884923"/>
            <a:ext cx="5164947" cy="53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 YOU TOMMOROW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409363" y="8688897"/>
            <a:ext cx="759903" cy="759903"/>
          </a:xfrm>
          <a:custGeom>
            <a:avLst/>
            <a:gdLst/>
            <a:ahLst/>
            <a:cxnLst/>
            <a:rect r="r" b="b" t="t" l="l"/>
            <a:pathLst>
              <a:path h="759903" w="759903">
                <a:moveTo>
                  <a:pt x="0" y="0"/>
                </a:moveTo>
                <a:lnTo>
                  <a:pt x="759903" y="0"/>
                </a:lnTo>
                <a:lnTo>
                  <a:pt x="759903" y="759903"/>
                </a:lnTo>
                <a:lnTo>
                  <a:pt x="0" y="75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5697" y="8659101"/>
            <a:ext cx="762324" cy="762324"/>
          </a:xfrm>
          <a:custGeom>
            <a:avLst/>
            <a:gdLst/>
            <a:ahLst/>
            <a:cxnLst/>
            <a:rect r="r" b="b" t="t" l="l"/>
            <a:pathLst>
              <a:path h="762324" w="762324">
                <a:moveTo>
                  <a:pt x="0" y="0"/>
                </a:moveTo>
                <a:lnTo>
                  <a:pt x="762323" y="0"/>
                </a:lnTo>
                <a:lnTo>
                  <a:pt x="762323" y="762323"/>
                </a:lnTo>
                <a:lnTo>
                  <a:pt x="0" y="7623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68070" y="8716674"/>
            <a:ext cx="561056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22475" y="8762274"/>
            <a:ext cx="350034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+91 9988007766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5497" y="4297309"/>
            <a:ext cx="12083855" cy="136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5"/>
              </a:lnSpc>
            </a:pPr>
            <a:r>
              <a:rPr lang="en-US" b="true" sz="796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BIG DATA ANALYTICS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80587" y="5978040"/>
            <a:ext cx="8526827" cy="49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b="true" sz="27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1: Introduction to Big Data Analytics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10719" y="7083981"/>
            <a:ext cx="44665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Instructor: </a:t>
            </a: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Mohammad Afzal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1391" y="908468"/>
            <a:ext cx="11972323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WILL LEARN TODAY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9197157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Types of data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Big Data is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Characteristics of Big Data (5Vs)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Evolution of data systems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Difference between BI and Big Data</a:t>
            </a:r>
          </a:p>
          <a:p>
            <a:pPr algn="just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ecosystem</a:t>
            </a:r>
          </a:p>
          <a:p>
            <a:pPr algn="just" marL="647609" indent="-323805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applications in HR, Marketing, Finance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is raw facts and figures that can be processed to generate information.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Numbers (sales data)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 (customer feedback)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Images (product photos)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Videos (surveillance footage)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DATA?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can be classified into three types:</a:t>
            </a:r>
          </a:p>
          <a:p>
            <a:pPr algn="just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Structured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Semi-Structured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Unstructured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TYPES OF DATA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Organized in rows and columns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Stored in databases (RDBMS)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Excel sheets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Banking transactions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Employee records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STRUCTURED DATA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strictly organized but has some structure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tags or key-value pairs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JSON files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XML files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Emails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SEMI-STRUCTURED DATA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predefined format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Difficult to store in traditional databases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media posts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Videos and images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Audio files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UNSTRUCTURED DATA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refers to extremely large and complex datasets that cannot be processed using traditional systems.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requires specialized tools and technologies.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BIG DATA?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35791" y="2338206"/>
            <a:ext cx="15548543" cy="348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8"/>
              </a:lnSpc>
            </a:pPr>
            <a:r>
              <a:rPr lang="en-US" sz="3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use Big Data to:</a:t>
            </a:r>
          </a:p>
          <a:p>
            <a:pPr algn="l" marL="707643" indent="-353822" lvl="1">
              <a:lnSpc>
                <a:spcPts val="4588"/>
              </a:lnSpc>
              <a:buFont typeface="Arial"/>
              <a:buChar char="•"/>
            </a:pPr>
            <a:r>
              <a:rPr lang="en-US" sz="3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decision making</a:t>
            </a:r>
          </a:p>
          <a:p>
            <a:pPr algn="l" marL="707643" indent="-353822" lvl="1">
              <a:lnSpc>
                <a:spcPts val="4588"/>
              </a:lnSpc>
              <a:buFont typeface="Arial"/>
              <a:buChar char="•"/>
            </a:pPr>
            <a:r>
              <a:rPr lang="en-US" sz="3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Understand customer behavior</a:t>
            </a:r>
          </a:p>
          <a:p>
            <a:pPr algn="l" marL="707643" indent="-353822" lvl="1">
              <a:lnSpc>
                <a:spcPts val="4588"/>
              </a:lnSpc>
              <a:buFont typeface="Arial"/>
              <a:buChar char="•"/>
            </a:pPr>
            <a:r>
              <a:rPr lang="en-US" sz="3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 efficiency</a:t>
            </a:r>
          </a:p>
          <a:p>
            <a:pPr algn="l" marL="707643" indent="-353822" lvl="1">
              <a:lnSpc>
                <a:spcPts val="4588"/>
              </a:lnSpc>
              <a:buFont typeface="Arial"/>
              <a:buChar char="•"/>
            </a:pPr>
            <a:r>
              <a:rPr lang="en-US" sz="3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 future trends</a:t>
            </a:r>
          </a:p>
          <a:p>
            <a:pPr algn="l" marL="707643" indent="-353822" lvl="1">
              <a:lnSpc>
                <a:spcPts val="4588"/>
              </a:lnSpc>
              <a:buFont typeface="Arial"/>
              <a:buChar char="•"/>
            </a:pPr>
            <a:r>
              <a:rPr lang="en-US" sz="3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Gain competitive advantage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BIG DATA IS IMPORTANT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is defined by: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Volume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Velocity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Variety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Veracity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CHARACTERISTICS OF BIG DATA (5VS)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Refers to the amount of data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media generates billions of posts daily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VOLUME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Speed at which data is generated and processed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stock market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VELOCITY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Different types of data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Text, images, videos, logs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VARIETY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 and reliability of data.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Fake reviews vs genuine customer feedback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33450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VERACITY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Information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processing evolved as:</a:t>
            </a:r>
          </a:p>
          <a:p>
            <a:pPr algn="just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Databases (RDBMS)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Warehousing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DATA SYSTEMS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structured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scalability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Worked well for small datasets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Banking systems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ERP 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TRADITIONAL DATA SYSTEMS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Warehousing is a system used to store large amounts of structured data for analysis and reporting.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idea: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collects data from multiple sources and stores it in a central repository.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WAREHOUSING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historical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Structured and organized format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Optimized for analysis and reporting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decision-making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FEATURES OF DATA WAREHOUSE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retail company collects data from:</a:t>
            </a:r>
          </a:p>
          <a:p>
            <a:pPr algn="just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Sales systems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 databases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Inventory systems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this data is stored in a data warehouse for generating reports.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EXAMPLE OF DATA WAREHOUSE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Handles mainly structured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suitable for unstructured data (videos, social media)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Expensive to scale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Slower with very large datasets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 OF DATA WAREHOUSING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 large-scale data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 structured and unstructured data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distributed processing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Hadoop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Spark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BIG DATA SYSTEMS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ecosystem includes tools and technologies used for: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storage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processing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BIG DATA ECOSYSTEM?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Sources (applications, sensors, social media)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Storage (HDFS, Cloud storage)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Processing (Hadoop, Spark)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Analytics (BI tools, dashboards)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COMPONENTS OF BIG DATA ECOSYSTEM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157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key concept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Warehouse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 Lake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MODERN DATA ARCHITECTURE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structured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for reporting and analysis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Organized and cleaned data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Sales reports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WAREHOUSE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157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raw data (structured + unstructured)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Flexible and scalable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for advanced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LAKE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1521739" y="2236745"/>
          <a:ext cx="5657850" cy="3143250"/>
        </p:xfrm>
        <a:graphic>
          <a:graphicData uri="http://schemas.openxmlformats.org/presentationml/2006/ole">
            <p:oleObj imgW="6781800" imgH="4267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TRADITIONAL BI VS BIG DATA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is used across industries: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HR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Finance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Healthcare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APPLICATIONS OF BIG DATA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for: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Employee performance analysis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Attrition prediction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Talent acquisition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BIG DATA IN HR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for: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 segmentation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Personalized recommendations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Campaign analysis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Netflix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BIG DATA IN MARKETING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for: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Fraud detection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management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Credit scoring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Detecting unusual transactions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BIG DATA IN FINANCE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55976" y="4322660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REAL-WORLD EXAMPLE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Today we learned: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Types of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definition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5Vs of Big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Evolution of data systems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 vs Big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Data ecosystem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applications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157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raw data (structured + unstructured)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Flexible and scalable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for advanced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LAKE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9644" y="4329073"/>
            <a:ext cx="12083855" cy="136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5"/>
              </a:lnSpc>
            </a:pPr>
            <a:r>
              <a:rPr lang="en-US" b="true" sz="796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HADOOP ECOSYSTEM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80587" y="5978040"/>
            <a:ext cx="8526827" cy="49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b="true" sz="27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1: Hadoop Ecosystem &amp; MapReduce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10719" y="7083981"/>
            <a:ext cx="44665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Instructor: </a:t>
            </a:r>
            <a:r>
              <a:rPr lang="en-US" sz="2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Mohammad Afzal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the end of this unit, you will understand: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Limitations of traditional databases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Hadoop was introduced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Hadoop ecosystem components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HDFS architecture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YARN resource management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MapReduce processing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LEARNING OBJECTIVES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576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RDBMS stands for Relational Database Management System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Oracle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SQL Server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for: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Structured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Transactions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applications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RDBMS (TRADITIONAL DATABASES)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RDBMS struggles with Big Data because: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handle very large datasets efficiently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scalability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Expensive hardware scaling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process unstructured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 OF RDBMS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overcome RDBMS limitations, Hadoop was introduced.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Hadoop provides: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Distributed storage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Distributed processing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Scalability using multiple machines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Ability to handle all types of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NEED FOR HADOOP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Hadoop is an open-source framework used to store and process large datasets across distributed systems.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idea: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Instead of using one powerful machine, Hadoop uses multiple machines working together.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HADOOP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Distributed storage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Fault tolerance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Cost-effective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Handles structured and unstructured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FEATURES OF HADOOP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Hadoop ecosystem includes tools for: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Storage → HDFS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Resource Management → YARN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Processing → MapReduce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Querying → Hive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processing → Pig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HADOOP ECOSYSTEM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Hadoop has three core components: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HDFS (Storage)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YARN (Resource Manager)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MapReduce (Processing Engine)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HADOOP ARCHITECTURE OVERVIEW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HDFS (Hadoop Distributed File System) is used to store large data across multiple machines.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idea: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is split into blocks and stored across different nodes.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HDFS?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44569" y="2999752"/>
            <a:ext cx="8528120" cy="5863082"/>
          </a:xfrm>
          <a:custGeom>
            <a:avLst/>
            <a:gdLst/>
            <a:ahLst/>
            <a:cxnLst/>
            <a:rect r="r" b="b" t="t" l="l"/>
            <a:pathLst>
              <a:path h="5863082" w="8528120">
                <a:moveTo>
                  <a:pt x="0" y="0"/>
                </a:moveTo>
                <a:lnTo>
                  <a:pt x="8528120" y="0"/>
                </a:lnTo>
                <a:lnTo>
                  <a:pt x="8528120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4229469" cy="366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HDFS consists of: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NameNode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Manages metadata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Tracks file locations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DataNode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actual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HDFS ARCHITECTURE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13906" y="2541750"/>
            <a:ext cx="13244965" cy="6192021"/>
          </a:xfrm>
          <a:custGeom>
            <a:avLst/>
            <a:gdLst/>
            <a:ahLst/>
            <a:cxnLst/>
            <a:rect r="r" b="b" t="t" l="l"/>
            <a:pathLst>
              <a:path h="6192021" w="13244965">
                <a:moveTo>
                  <a:pt x="0" y="0"/>
                </a:moveTo>
                <a:lnTo>
                  <a:pt x="13244965" y="0"/>
                </a:lnTo>
                <a:lnTo>
                  <a:pt x="13244965" y="6192022"/>
                </a:lnTo>
                <a:lnTo>
                  <a:pt x="0" y="6192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HDFS ARCHITECTURE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19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File is divided into blocks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Blocks are stored across multiple DataNodes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is replicated for fault tolerance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Fault Tolerance in HDFS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Replicating data across multiple nodes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one node fails → data is still available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HDFS WORKING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YARN (Yet Another Resource Negotiator) manages cluster resources.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Functions: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Allocates CPU and memory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Manages job execution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Schedule tasks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YARN?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57334" y="2006345"/>
            <a:ext cx="7406081" cy="6832110"/>
          </a:xfrm>
          <a:custGeom>
            <a:avLst/>
            <a:gdLst/>
            <a:ahLst/>
            <a:cxnLst/>
            <a:rect r="r" b="b" t="t" l="l"/>
            <a:pathLst>
              <a:path h="6832110" w="7406081">
                <a:moveTo>
                  <a:pt x="0" y="0"/>
                </a:moveTo>
                <a:lnTo>
                  <a:pt x="7406082" y="0"/>
                </a:lnTo>
                <a:lnTo>
                  <a:pt x="7406082" y="6832110"/>
                </a:lnTo>
                <a:lnTo>
                  <a:pt x="0" y="683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4229469" cy="157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Resource Manager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 Manager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Application Master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YARN COMPONENTS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696252" y="3455329"/>
            <a:ext cx="8876437" cy="5802971"/>
          </a:xfrm>
          <a:custGeom>
            <a:avLst/>
            <a:gdLst/>
            <a:ahLst/>
            <a:cxnLst/>
            <a:rect r="r" b="b" t="t" l="l"/>
            <a:pathLst>
              <a:path h="5802971" w="8876437">
                <a:moveTo>
                  <a:pt x="0" y="0"/>
                </a:moveTo>
                <a:lnTo>
                  <a:pt x="8876437" y="0"/>
                </a:lnTo>
                <a:lnTo>
                  <a:pt x="8876437" y="5802971"/>
                </a:lnTo>
                <a:lnTo>
                  <a:pt x="0" y="5802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MapReduce is a programming model used to process large datasets in parallel.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works in two main phases: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MAPREDUCE?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 data is divided into smaller parts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part is processed independently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Word count problem → Each mapper counts words in a portion of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33450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MAP PHASE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897366" y="5143500"/>
            <a:ext cx="7606736" cy="4972904"/>
          </a:xfrm>
          <a:custGeom>
            <a:avLst/>
            <a:gdLst/>
            <a:ahLst/>
            <a:cxnLst/>
            <a:rect r="r" b="b" t="t" l="l"/>
            <a:pathLst>
              <a:path h="4972904" w="7606736">
                <a:moveTo>
                  <a:pt x="0" y="0"/>
                </a:moveTo>
                <a:lnTo>
                  <a:pt x="7606737" y="0"/>
                </a:lnTo>
                <a:lnTo>
                  <a:pt x="7606737" y="4972904"/>
                </a:lnTo>
                <a:lnTo>
                  <a:pt x="0" y="4972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Intermediate data is grouped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Similar data is brought together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xample: All “apple” words grouped together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SHUFFLE PHASE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733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Aggregates results from Map phase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count of each word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MapReduce Flow Summary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 Data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Shuffle &amp; Sort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REDUCE PHASE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56267" y="3756064"/>
            <a:ext cx="8416421" cy="5502236"/>
          </a:xfrm>
          <a:custGeom>
            <a:avLst/>
            <a:gdLst/>
            <a:ahLst/>
            <a:cxnLst/>
            <a:rect r="r" b="b" t="t" l="l"/>
            <a:pathLst>
              <a:path h="5502236" w="8416421">
                <a:moveTo>
                  <a:pt x="0" y="0"/>
                </a:moveTo>
                <a:lnTo>
                  <a:pt x="8416422" y="0"/>
                </a:lnTo>
                <a:lnTo>
                  <a:pt x="8416422" y="5502236"/>
                </a:lnTo>
                <a:lnTo>
                  <a:pt x="0" y="5502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61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MapReduce is like: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Manager divides work among employees (Map)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Employees complete tasks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Results are combined (Reduce)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REAL-LIFE ANALOGY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1499851" y="2302407"/>
          <a:ext cx="5657850" cy="3143250"/>
        </p:xfrm>
        <a:graphic>
          <a:graphicData uri="http://schemas.openxmlformats.org/presentationml/2006/ole">
            <p:oleObj imgW="6781800" imgH="4267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HADOOP VS RDBM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47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Complex to manage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suitable for real-time processing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Requires technical expertise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 of Hadoop</a:t>
            </a:r>
          </a:p>
          <a:p>
            <a:pPr algn="l">
              <a:lnSpc>
                <a:spcPts val="4199"/>
              </a:lnSpc>
            </a:pP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Complex to manage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suitable for real-time processing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Requires technical expertise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ADVANTAGES OF HADOOP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209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media analytics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Fraud detection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Recommendation systems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WHERE HADOOP IS USED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0668" y="0"/>
            <a:ext cx="2207332" cy="10287000"/>
            <a:chOff x="0" y="0"/>
            <a:chExt cx="58135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3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1355">
                  <a:moveTo>
                    <a:pt x="0" y="0"/>
                  </a:moveTo>
                  <a:lnTo>
                    <a:pt x="581355" y="0"/>
                  </a:lnTo>
                  <a:lnTo>
                    <a:pt x="5813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135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3220" y="2264157"/>
            <a:ext cx="14229469" cy="314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RDBMS limitations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Need for Hadoop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Hadoop ecosystem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HDFS architecture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YARN</a:t>
            </a:r>
          </a:p>
          <a:p>
            <a:pPr algn="l" marL="647609" indent="-32380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MapReduce 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1391" y="908468"/>
            <a:ext cx="14132024" cy="82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31"/>
              </a:lnSpc>
            </a:pPr>
            <a:r>
              <a:rPr lang="en-US" b="true" sz="48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DAHECco4wsg</dc:identifier>
  <dcterms:modified xsi:type="dcterms:W3CDTF">2011-08-01T06:04:30Z</dcterms:modified>
  <cp:revision>1</cp:revision>
  <dc:title>DAY - 01</dc:title>
</cp:coreProperties>
</file>